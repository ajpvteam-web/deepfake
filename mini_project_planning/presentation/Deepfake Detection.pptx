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5.xml.rels" ContentType="application/vnd.openxmlformats-package.relationships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6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30040"/>
            <a:ext cx="7717320" cy="247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Google Shape;11;p2"/>
          <p:cNvSpPr/>
          <p:nvPr/>
        </p:nvSpPr>
        <p:spPr>
          <a:xfrm>
            <a:off x="-565200" y="-462600"/>
            <a:ext cx="59086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12;p2"/>
          <p:cNvSpPr/>
          <p:nvPr/>
        </p:nvSpPr>
        <p:spPr>
          <a:xfrm>
            <a:off x="3799800" y="4608720"/>
            <a:ext cx="59086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84120" y="1413000"/>
            <a:ext cx="6575760" cy="18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12000" strike="noStrike" u="non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b="0" lang="fr-FR" sz="1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57;p11"/>
          <p:cNvSpPr/>
          <p:nvPr/>
        </p:nvSpPr>
        <p:spPr>
          <a:xfrm>
            <a:off x="1595880" y="-462600"/>
            <a:ext cx="595152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58;p11"/>
          <p:cNvSpPr/>
          <p:nvPr/>
        </p:nvSpPr>
        <p:spPr>
          <a:xfrm rot="21599400">
            <a:off x="1595880" y="4608360"/>
            <a:ext cx="595152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2800" y="2047680"/>
            <a:ext cx="283788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2589840" y="1454400"/>
            <a:ext cx="70344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4782960" y="2047680"/>
            <a:ext cx="283788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5850360" y="1454400"/>
            <a:ext cx="70344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title"/>
          </p:nvPr>
        </p:nvSpPr>
        <p:spPr>
          <a:xfrm>
            <a:off x="1522800" y="3689640"/>
            <a:ext cx="283788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title"/>
          </p:nvPr>
        </p:nvSpPr>
        <p:spPr>
          <a:xfrm>
            <a:off x="2589840" y="3096360"/>
            <a:ext cx="70344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7"/>
          <p:cNvSpPr>
            <a:spLocks noGrp="1"/>
          </p:cNvSpPr>
          <p:nvPr>
            <p:ph type="title"/>
          </p:nvPr>
        </p:nvSpPr>
        <p:spPr>
          <a:xfrm>
            <a:off x="4782960" y="3689640"/>
            <a:ext cx="283788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8"/>
          <p:cNvSpPr>
            <a:spLocks noGrp="1"/>
          </p:cNvSpPr>
          <p:nvPr>
            <p:ph type="title"/>
          </p:nvPr>
        </p:nvSpPr>
        <p:spPr>
          <a:xfrm>
            <a:off x="5850360" y="3096360"/>
            <a:ext cx="70344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9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74;p13"/>
          <p:cNvSpPr/>
          <p:nvPr/>
        </p:nvSpPr>
        <p:spPr>
          <a:xfrm rot="5400000">
            <a:off x="-2062440" y="2056680"/>
            <a:ext cx="40359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75;p13"/>
          <p:cNvSpPr/>
          <p:nvPr/>
        </p:nvSpPr>
        <p:spPr>
          <a:xfrm rot="5400000">
            <a:off x="7170840" y="2056680"/>
            <a:ext cx="40359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78;p14"/>
          <p:cNvSpPr/>
          <p:nvPr/>
        </p:nvSpPr>
        <p:spPr>
          <a:xfrm>
            <a:off x="-796320" y="-462600"/>
            <a:ext cx="220212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79;p14"/>
          <p:cNvSpPr/>
          <p:nvPr/>
        </p:nvSpPr>
        <p:spPr>
          <a:xfrm rot="5400000">
            <a:off x="7831080" y="-462240"/>
            <a:ext cx="220212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13160" y="1469880"/>
            <a:ext cx="2997720" cy="156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83;p15"/>
          <p:cNvSpPr/>
          <p:nvPr/>
        </p:nvSpPr>
        <p:spPr>
          <a:xfrm>
            <a:off x="713160" y="-21204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Google Shape;84;p15"/>
          <p:cNvSpPr/>
          <p:nvPr/>
        </p:nvSpPr>
        <p:spPr>
          <a:xfrm>
            <a:off x="5488560" y="435348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32760" y="1451880"/>
            <a:ext cx="2997720" cy="156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88;p16"/>
          <p:cNvSpPr/>
          <p:nvPr/>
        </p:nvSpPr>
        <p:spPr>
          <a:xfrm>
            <a:off x="5527440" y="-21204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Google Shape;89;p16"/>
          <p:cNvSpPr/>
          <p:nvPr/>
        </p:nvSpPr>
        <p:spPr>
          <a:xfrm>
            <a:off x="713160" y="435348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289960" y="2855160"/>
            <a:ext cx="4563720" cy="66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93;p17"/>
          <p:cNvSpPr/>
          <p:nvPr/>
        </p:nvSpPr>
        <p:spPr>
          <a:xfrm>
            <a:off x="3053160" y="-57060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e7e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Google Shape;94;p17"/>
          <p:cNvSpPr/>
          <p:nvPr/>
        </p:nvSpPr>
        <p:spPr>
          <a:xfrm>
            <a:off x="3053160" y="456048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230800" y="1648800"/>
            <a:ext cx="31996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98;p18"/>
          <p:cNvSpPr/>
          <p:nvPr/>
        </p:nvSpPr>
        <p:spPr>
          <a:xfrm>
            <a:off x="6413400" y="-462600"/>
            <a:ext cx="40341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Google Shape;99;p18"/>
          <p:cNvSpPr/>
          <p:nvPr/>
        </p:nvSpPr>
        <p:spPr>
          <a:xfrm>
            <a:off x="6413400" y="4608720"/>
            <a:ext cx="40341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104;p19"/>
          <p:cNvSpPr/>
          <p:nvPr/>
        </p:nvSpPr>
        <p:spPr>
          <a:xfrm rot="5400000">
            <a:off x="-1171800" y="2927520"/>
            <a:ext cx="2359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Google Shape;105;p19"/>
          <p:cNvSpPr/>
          <p:nvPr/>
        </p:nvSpPr>
        <p:spPr>
          <a:xfrm rot="5400000">
            <a:off x="7957440" y="1218240"/>
            <a:ext cx="2359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2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0000" y="278460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3403800" y="278460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/>
          </p:nvPr>
        </p:nvSpPr>
        <p:spPr>
          <a:xfrm>
            <a:off x="6087600" y="278460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114;p20"/>
          <p:cNvSpPr/>
          <p:nvPr/>
        </p:nvSpPr>
        <p:spPr>
          <a:xfrm>
            <a:off x="-1303920" y="-462600"/>
            <a:ext cx="40341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Google Shape;115;p20"/>
          <p:cNvSpPr/>
          <p:nvPr/>
        </p:nvSpPr>
        <p:spPr>
          <a:xfrm>
            <a:off x="6413400" y="4608720"/>
            <a:ext cx="40341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391840" y="2561400"/>
            <a:ext cx="435996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2996640" y="1262160"/>
            <a:ext cx="31507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17;p3"/>
          <p:cNvSpPr/>
          <p:nvPr/>
        </p:nvSpPr>
        <p:spPr>
          <a:xfrm>
            <a:off x="-808920" y="53964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Google Shape;18;p3"/>
          <p:cNvSpPr/>
          <p:nvPr/>
        </p:nvSpPr>
        <p:spPr>
          <a:xfrm>
            <a:off x="6912000" y="349848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354320" y="1786320"/>
            <a:ext cx="27320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5057280" y="1786320"/>
            <a:ext cx="27320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title"/>
          </p:nvPr>
        </p:nvSpPr>
        <p:spPr>
          <a:xfrm>
            <a:off x="1354320" y="3219480"/>
            <a:ext cx="27320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5057280" y="3219480"/>
            <a:ext cx="27320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26;p21"/>
          <p:cNvSpPr/>
          <p:nvPr/>
        </p:nvSpPr>
        <p:spPr>
          <a:xfrm>
            <a:off x="-738360" y="53964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Google Shape;127;p21"/>
          <p:cNvSpPr/>
          <p:nvPr/>
        </p:nvSpPr>
        <p:spPr>
          <a:xfrm>
            <a:off x="6978960" y="53964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8360" y="1950840"/>
            <a:ext cx="20786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3532680" y="1950840"/>
            <a:ext cx="20786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title"/>
          </p:nvPr>
        </p:nvSpPr>
        <p:spPr>
          <a:xfrm>
            <a:off x="1098360" y="3689640"/>
            <a:ext cx="20786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title"/>
          </p:nvPr>
        </p:nvSpPr>
        <p:spPr>
          <a:xfrm>
            <a:off x="3532680" y="3689640"/>
            <a:ext cx="20786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title"/>
          </p:nvPr>
        </p:nvSpPr>
        <p:spPr>
          <a:xfrm>
            <a:off x="5966640" y="1950840"/>
            <a:ext cx="20786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title"/>
          </p:nvPr>
        </p:nvSpPr>
        <p:spPr>
          <a:xfrm>
            <a:off x="5966640" y="3689640"/>
            <a:ext cx="20786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142;p22"/>
          <p:cNvSpPr/>
          <p:nvPr/>
        </p:nvSpPr>
        <p:spPr>
          <a:xfrm rot="5400000">
            <a:off x="-1171800" y="1218240"/>
            <a:ext cx="2359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Google Shape;143;p22"/>
          <p:cNvSpPr/>
          <p:nvPr/>
        </p:nvSpPr>
        <p:spPr>
          <a:xfrm rot="5400000">
            <a:off x="7957440" y="2927520"/>
            <a:ext cx="2359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151640" y="1438920"/>
            <a:ext cx="2137680" cy="51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5854680" y="1936080"/>
            <a:ext cx="2137680" cy="51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title"/>
          </p:nvPr>
        </p:nvSpPr>
        <p:spPr>
          <a:xfrm>
            <a:off x="5854680" y="2930040"/>
            <a:ext cx="2137680" cy="51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title"/>
          </p:nvPr>
        </p:nvSpPr>
        <p:spPr>
          <a:xfrm>
            <a:off x="1151640" y="2432880"/>
            <a:ext cx="2137680" cy="51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154;p23"/>
          <p:cNvSpPr/>
          <p:nvPr/>
        </p:nvSpPr>
        <p:spPr>
          <a:xfrm>
            <a:off x="-457920" y="-21204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Google Shape;155;p23"/>
          <p:cNvSpPr/>
          <p:nvPr/>
        </p:nvSpPr>
        <p:spPr>
          <a:xfrm>
            <a:off x="6698520" y="4353480"/>
            <a:ext cx="290304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title"/>
          </p:nvPr>
        </p:nvSpPr>
        <p:spPr>
          <a:xfrm>
            <a:off x="1151280" y="3427200"/>
            <a:ext cx="2137680" cy="51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2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135520" y="563400"/>
            <a:ext cx="4872960" cy="10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7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61;p24"/>
          <p:cNvSpPr/>
          <p:nvPr/>
        </p:nvSpPr>
        <p:spPr>
          <a:xfrm>
            <a:off x="2555280" y="3617640"/>
            <a:ext cx="403344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000" strike="noStrike" u="none">
                <a:solidFill>
                  <a:srgbClr val="191919"/>
                </a:solidFill>
                <a:effectLst/>
                <a:uFillTx/>
                <a:latin typeface="Catamaran"/>
                <a:ea typeface="Catamaran"/>
              </a:rPr>
              <a:t>CREDITS: This presentation template was created by </a:t>
            </a:r>
            <a:r>
              <a:rPr b="1" lang="en" sz="1000" strike="noStrike" u="sng">
                <a:solidFill>
                  <a:srgbClr val="191919"/>
                </a:solidFill>
                <a:effectLst/>
                <a:uFillTx/>
                <a:latin typeface="Catamaran"/>
                <a:ea typeface="Catamaran"/>
                <a:hlinkClick r:id="rId2"/>
              </a:rPr>
              <a:t>Slidesgo</a:t>
            </a:r>
            <a:r>
              <a:rPr b="0" lang="en" sz="1000" strike="noStrike" u="none">
                <a:solidFill>
                  <a:srgbClr val="191919"/>
                </a:solidFill>
                <a:effectLst/>
                <a:uFillTx/>
                <a:latin typeface="Catamaran"/>
                <a:ea typeface="Catamaran"/>
              </a:rPr>
              <a:t>, and includes icons by </a:t>
            </a:r>
            <a:r>
              <a:rPr b="1" lang="en" sz="1000" strike="noStrike" u="sng">
                <a:solidFill>
                  <a:srgbClr val="191919"/>
                </a:solidFill>
                <a:effectLst/>
                <a:uFillTx/>
                <a:latin typeface="Catamaran"/>
                <a:ea typeface="Catamaran"/>
                <a:hlinkClick r:id="rId3"/>
              </a:rPr>
              <a:t>Flaticon</a:t>
            </a:r>
            <a:r>
              <a:rPr b="0" lang="en" sz="1000" strike="noStrike" u="none">
                <a:solidFill>
                  <a:srgbClr val="191919"/>
                </a:solidFill>
                <a:effectLst/>
                <a:uFillTx/>
                <a:latin typeface="Catamaran"/>
                <a:ea typeface="Catamaran"/>
              </a:rPr>
              <a:t> and infographics &amp; images by </a:t>
            </a:r>
            <a:r>
              <a:rPr b="1" lang="en" sz="1000" strike="noStrike" u="sng">
                <a:solidFill>
                  <a:srgbClr val="191919"/>
                </a:solidFill>
                <a:effectLst/>
                <a:uFillTx/>
                <a:latin typeface="Catamaran"/>
                <a:ea typeface="Catamaran"/>
                <a:hlinkClick r:id="rId4"/>
              </a:rPr>
              <a:t>Freepik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Google Shape;162;p24"/>
          <p:cNvSpPr/>
          <p:nvPr/>
        </p:nvSpPr>
        <p:spPr>
          <a:xfrm rot="5400000">
            <a:off x="-948600" y="193680"/>
            <a:ext cx="43264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Google Shape;163;p24"/>
          <p:cNvSpPr/>
          <p:nvPr/>
        </p:nvSpPr>
        <p:spPr>
          <a:xfrm rot="5400000">
            <a:off x="5766840" y="3947760"/>
            <a:ext cx="43264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66;p25"/>
          <p:cNvSpPr/>
          <p:nvPr/>
        </p:nvSpPr>
        <p:spPr>
          <a:xfrm>
            <a:off x="-565200" y="-462600"/>
            <a:ext cx="59086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Google Shape;167;p25"/>
          <p:cNvSpPr/>
          <p:nvPr/>
        </p:nvSpPr>
        <p:spPr>
          <a:xfrm>
            <a:off x="3799800" y="4608720"/>
            <a:ext cx="59086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69;p26"/>
          <p:cNvSpPr/>
          <p:nvPr/>
        </p:nvSpPr>
        <p:spPr>
          <a:xfrm>
            <a:off x="-808920" y="53964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Google Shape;170;p26"/>
          <p:cNvSpPr/>
          <p:nvPr/>
        </p:nvSpPr>
        <p:spPr>
          <a:xfrm>
            <a:off x="6912000" y="349848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2194920" y="1457280"/>
            <a:ext cx="4754160" cy="29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22;p4"/>
          <p:cNvSpPr/>
          <p:nvPr/>
        </p:nvSpPr>
        <p:spPr>
          <a:xfrm rot="5400000">
            <a:off x="-187200" y="4401720"/>
            <a:ext cx="255492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e7e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Google Shape;23;p4"/>
          <p:cNvSpPr/>
          <p:nvPr/>
        </p:nvSpPr>
        <p:spPr>
          <a:xfrm rot="5400000">
            <a:off x="6777000" y="4401720"/>
            <a:ext cx="255492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30;p5"/>
          <p:cNvSpPr/>
          <p:nvPr/>
        </p:nvSpPr>
        <p:spPr>
          <a:xfrm>
            <a:off x="-1303920" y="-462600"/>
            <a:ext cx="40341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Google Shape;31;p5"/>
          <p:cNvSpPr/>
          <p:nvPr/>
        </p:nvSpPr>
        <p:spPr>
          <a:xfrm>
            <a:off x="6413400" y="4608720"/>
            <a:ext cx="40341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34;p6"/>
          <p:cNvSpPr/>
          <p:nvPr/>
        </p:nvSpPr>
        <p:spPr>
          <a:xfrm rot="5400000">
            <a:off x="6743520" y="-209160"/>
            <a:ext cx="2359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Google Shape;35;p6"/>
          <p:cNvSpPr/>
          <p:nvPr/>
        </p:nvSpPr>
        <p:spPr>
          <a:xfrm>
            <a:off x="-1335600" y="4633920"/>
            <a:ext cx="2359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13160" y="541080"/>
            <a:ext cx="3604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39;p7"/>
          <p:cNvSpPr/>
          <p:nvPr/>
        </p:nvSpPr>
        <p:spPr>
          <a:xfrm>
            <a:off x="-1303920" y="-614880"/>
            <a:ext cx="56217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40;p7"/>
          <p:cNvSpPr/>
          <p:nvPr/>
        </p:nvSpPr>
        <p:spPr>
          <a:xfrm>
            <a:off x="-1303920" y="4761000"/>
            <a:ext cx="562176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388160" y="1374840"/>
            <a:ext cx="6367320" cy="239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9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9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43;p8"/>
          <p:cNvSpPr/>
          <p:nvPr/>
        </p:nvSpPr>
        <p:spPr>
          <a:xfrm rot="5400000">
            <a:off x="6337800" y="-212040"/>
            <a:ext cx="4186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44;p8"/>
          <p:cNvSpPr/>
          <p:nvPr/>
        </p:nvSpPr>
        <p:spPr>
          <a:xfrm rot="5400000">
            <a:off x="-1379520" y="4353480"/>
            <a:ext cx="4186080" cy="1001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9cf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391840" y="1562760"/>
            <a:ext cx="435996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48;p9"/>
          <p:cNvSpPr/>
          <p:nvPr/>
        </p:nvSpPr>
        <p:spPr>
          <a:xfrm>
            <a:off x="5176080" y="420480"/>
            <a:ext cx="3155040" cy="80388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9" name="Google Shape;49;p9"/>
          <p:cNvSpPr/>
          <p:nvPr/>
        </p:nvSpPr>
        <p:spPr>
          <a:xfrm>
            <a:off x="812520" y="3918600"/>
            <a:ext cx="3155040" cy="80388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2da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20000" y="3323520"/>
            <a:ext cx="4289400" cy="123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52;p10"/>
          <p:cNvSpPr/>
          <p:nvPr/>
        </p:nvSpPr>
        <p:spPr>
          <a:xfrm>
            <a:off x="-808920" y="53964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e0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3" name="Google Shape;53;p10"/>
          <p:cNvSpPr/>
          <p:nvPr/>
        </p:nvSpPr>
        <p:spPr>
          <a:xfrm>
            <a:off x="6912000" y="3498480"/>
            <a:ext cx="3037320" cy="110952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d9cf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048320" y="324000"/>
            <a:ext cx="704700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2"/>
    <p:sldLayoutId id="2147483676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714240" y="1133640"/>
            <a:ext cx="7714800" cy="247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300" strike="noStrike" u="none">
                <a:solidFill>
                  <a:srgbClr val="212529"/>
                </a:solidFill>
                <a:effectLst/>
                <a:uFillTx/>
                <a:latin typeface="Lexend Deca"/>
                <a:ea typeface="Lexend Deca"/>
              </a:rPr>
              <a:t>Deepfake Detection </a:t>
            </a:r>
            <a:endParaRPr b="0" lang="fr-FR" sz="5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ubTitle"/>
          </p:nvPr>
        </p:nvSpPr>
        <p:spPr>
          <a:xfrm>
            <a:off x="2390760" y="3600360"/>
            <a:ext cx="4362120" cy="4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CNN + LSTM based system for robust deepfake detection in video streams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07" name="Google Shape;183;p30"/>
          <p:cNvCxnSpPr/>
          <p:nvPr/>
        </p:nvCxnSpPr>
        <p:spPr>
          <a:xfrm>
            <a:off x="3017160" y="3562200"/>
            <a:ext cx="3109680" cy="360"/>
          </a:xfrm>
          <a:prstGeom prst="straightConnector1">
            <a:avLst/>
          </a:prstGeom>
          <a:ln w="38100">
            <a:solidFill>
              <a:srgbClr val="d2dae9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2390760" y="1562040"/>
            <a:ext cx="436212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Introduction 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2390760" y="2362320"/>
            <a:ext cx="4362120" cy="121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indent="0" algn="ctr">
              <a:buNone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Deepfake refers to \u{200B}*synthetic media*\u{200B} generated using deep learning to replace or alter faces in video/audio.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This project addresses the rising threat to \u{200B}**trust and security**\u{200B} by detecting manipulated videos using a hybrid \u{200B}**CNN + LSTM**\u{200B} approach.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Speaker notes: Briefly define deepfakes, emphasize societal impact and why detection matters.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Suggested visual: Timeline or infographic showing deepfake evolution and risks.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10" name="Google Shape;231;p34"/>
          <p:cNvCxnSpPr/>
          <p:nvPr/>
        </p:nvCxnSpPr>
        <p:spPr>
          <a:xfrm>
            <a:off x="5039280" y="2325600"/>
            <a:ext cx="1017000" cy="360"/>
          </a:xfrm>
          <a:prstGeom prst="straightConnector1">
            <a:avLst/>
          </a:prstGeom>
          <a:ln w="38100">
            <a:solidFill>
              <a:srgbClr val="ffe0a7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2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Project </a:t>
            </a: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Overview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13" name="image69c10ee8d6207" descr="image69c10ee8d620c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Problem </a:t>
            </a: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Statement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5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Deepfakes enable realistic manipulations that erode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trust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, enable fraud, and spread misinformation.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Challenges include subtle spatial artifacts, temporal inconsistency, and diverse generation methods that reduce detector reliability.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Speaker notes: Highlight real-world consequences (fraud, politics) and technical detection hurdles.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Suggested visual: Example real vs fake frame comparison with noted artifacts.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Objectives &amp; </a:t>
            </a: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Goals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7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Develop a pipeline combining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CNN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 for spatial feature extraction and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LSTM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 for temporal modeling to detect deepfakes in videos.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Aim for high accuracy, robust generalization, and real-time inference capability for viva demonstration.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Speaker notes: State measurable goals (accuracy target, latency) and evaluation plans.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Suggested visual: Block diagram showing CNN → feature sequence → LSTM → classification.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Expected </a:t>
            </a: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Outcomes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Deliver a working prototype that detects deepfake videos with competitive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accuracy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 and low false positives.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Provide a demonstrable pipeline for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real-time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 inference and clear evaluation reports for viva presentation.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20" name="image69c10ee8e6f97" descr="image69c10ee8e6f9c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03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2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Technical </a:t>
            </a: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Design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23" name="image69c10ee906321" descr="image69c10ee906325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Model </a:t>
            </a: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Architecture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5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Hybrid pipeline: a CNN extracts spatial facial features, producing feature vectors per frame.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An LSTM ingests the sequence of features to model temporal inconsistencies and outputs a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binary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 classification (real/fake).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Methodology </a:t>
            </a: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Steps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7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Preprocess video: face detection, alignment, and frame sampling.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Train CNN on frame-level artifacts; feed sequential features to LSTM for temporal learning. Validate with cross-dataset testing and augmentations.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Evaluation </a:t>
            </a: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Metrics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9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Report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accuracy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, precision, recall, and F1-score for classification.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Also measure inference latency and robustness across datasets to assess generalization and real-time feasibility.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30" name="image69c10ee91755f" descr="image69c10ee917564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Lexend Deca"/>
              </a:rPr>
              <a:t>Conclusions 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2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The proposed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CNN + LSTM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 system balances spatial and temporal analysis to improve deepfake detection reliability.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</a:rPr>
              <a:t>Future work includes larger datasets, model optimization for latency, and deployment as a lightweight API for practical use.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2133720" y="-768600"/>
            <a:ext cx="4876560" cy="23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7200" strike="noStrike" u="non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Thanks!</a:t>
            </a:r>
            <a:endParaRPr b="0" lang="fr-FR" sz="7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2943360" y="1504800"/>
            <a:ext cx="3200040" cy="130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Do you have any questions?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youremail@freepik.com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+91  620 421 838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yourwebsite.com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5" name="Google Shape;585;p52"/>
          <p:cNvSpPr/>
          <p:nvPr/>
        </p:nvSpPr>
        <p:spPr>
          <a:xfrm>
            <a:off x="3432600" y="3014280"/>
            <a:ext cx="464760" cy="465120"/>
          </a:xfrm>
          <a:custGeom>
            <a:avLst/>
            <a:gdLst>
              <a:gd name="textAreaLeft" fmla="*/ 0 w 464760"/>
              <a:gd name="textAreaRight" fmla="*/ 465120 w 464760"/>
              <a:gd name="textAreaTop" fmla="*/ 0 h 465120"/>
              <a:gd name="textAreaBottom" fmla="*/ 465480 h 465120"/>
            </a:gdLst>
            <a:ahLst/>
            <a:cxnLst/>
            <a:rect l="textAreaLeft" t="textAreaTop" r="textAreaRight" b="textAreaBottom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6" name="Google Shape;586;p52"/>
          <p:cNvGrpSpPr/>
          <p:nvPr/>
        </p:nvGrpSpPr>
        <p:grpSpPr>
          <a:xfrm>
            <a:off x="4037040" y="3014640"/>
            <a:ext cx="465120" cy="464760"/>
            <a:chOff x="4037040" y="3014640"/>
            <a:chExt cx="465120" cy="464760"/>
          </a:xfrm>
        </p:grpSpPr>
        <p:sp>
          <p:nvSpPr>
            <p:cNvPr id="137" name="Google Shape;587;p52"/>
            <p:cNvSpPr/>
            <p:nvPr/>
          </p:nvSpPr>
          <p:spPr>
            <a:xfrm>
              <a:off x="4037040" y="3014640"/>
              <a:ext cx="465120" cy="464760"/>
            </a:xfrm>
            <a:custGeom>
              <a:avLst/>
              <a:gdLst>
                <a:gd name="textAreaLeft" fmla="*/ 0 w 465120"/>
                <a:gd name="textAreaRight" fmla="*/ 465480 w 465120"/>
                <a:gd name="textAreaTop" fmla="*/ 0 h 464760"/>
                <a:gd name="textAreaBottom" fmla="*/ 465120 h 46476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588;p52"/>
            <p:cNvSpPr/>
            <p:nvPr/>
          </p:nvSpPr>
          <p:spPr>
            <a:xfrm>
              <a:off x="4124520" y="3102480"/>
              <a:ext cx="289440" cy="289440"/>
            </a:xfrm>
            <a:custGeom>
              <a:avLst/>
              <a:gdLst>
                <a:gd name="textAreaLeft" fmla="*/ 0 w 289440"/>
                <a:gd name="textAreaRight" fmla="*/ 289800 w 289440"/>
                <a:gd name="textAreaTop" fmla="*/ 0 h 289440"/>
                <a:gd name="textAreaBottom" fmla="*/ 289800 h 28944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589;p52"/>
            <p:cNvSpPr/>
            <p:nvPr/>
          </p:nvSpPr>
          <p:spPr>
            <a:xfrm>
              <a:off x="4191840" y="3171240"/>
              <a:ext cx="154080" cy="151200"/>
            </a:xfrm>
            <a:custGeom>
              <a:avLst/>
              <a:gdLst>
                <a:gd name="textAreaLeft" fmla="*/ 0 w 154080"/>
                <a:gd name="textAreaRight" fmla="*/ 154440 w 154080"/>
                <a:gd name="textAreaTop" fmla="*/ 0 h 151200"/>
                <a:gd name="textAreaBottom" fmla="*/ 151560 h 15120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0" bIns="75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590;p52"/>
            <p:cNvSpPr/>
            <p:nvPr/>
          </p:nvSpPr>
          <p:spPr>
            <a:xfrm>
              <a:off x="4327920" y="3139560"/>
              <a:ext cx="39600" cy="3888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1" name="Google Shape;591;p52"/>
          <p:cNvGrpSpPr/>
          <p:nvPr/>
        </p:nvGrpSpPr>
        <p:grpSpPr>
          <a:xfrm>
            <a:off x="4641480" y="3014640"/>
            <a:ext cx="465120" cy="464760"/>
            <a:chOff x="4641480" y="3014640"/>
            <a:chExt cx="465120" cy="464760"/>
          </a:xfrm>
        </p:grpSpPr>
        <p:sp>
          <p:nvSpPr>
            <p:cNvPr id="142" name="Google Shape;592;p52"/>
            <p:cNvSpPr/>
            <p:nvPr/>
          </p:nvSpPr>
          <p:spPr>
            <a:xfrm>
              <a:off x="4641480" y="3014640"/>
              <a:ext cx="465120" cy="464760"/>
            </a:xfrm>
            <a:custGeom>
              <a:avLst/>
              <a:gdLst>
                <a:gd name="textAreaLeft" fmla="*/ 0 w 465120"/>
                <a:gd name="textAreaRight" fmla="*/ 465480 w 465120"/>
                <a:gd name="textAreaTop" fmla="*/ 0 h 464760"/>
                <a:gd name="textAreaBottom" fmla="*/ 465120 h 46476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593;p52"/>
            <p:cNvSpPr/>
            <p:nvPr/>
          </p:nvSpPr>
          <p:spPr>
            <a:xfrm>
              <a:off x="4748400" y="3200760"/>
              <a:ext cx="64080" cy="16200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1000" bIns="81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594;p52"/>
            <p:cNvSpPr/>
            <p:nvPr/>
          </p:nvSpPr>
          <p:spPr>
            <a:xfrm>
              <a:off x="4738680" y="3112560"/>
              <a:ext cx="73800" cy="7380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73800"/>
                <a:gd name="textAreaBottom" fmla="*/ 74160 h 7380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080" bIns="37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595;p52"/>
            <p:cNvSpPr/>
            <p:nvPr/>
          </p:nvSpPr>
          <p:spPr>
            <a:xfrm>
              <a:off x="4846320" y="3200760"/>
              <a:ext cx="172080" cy="162000"/>
            </a:xfrm>
            <a:custGeom>
              <a:avLst/>
              <a:gdLst>
                <a:gd name="textAreaLeft" fmla="*/ 0 w 172080"/>
                <a:gd name="textAreaRight" fmla="*/ 172440 w 17208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1000" bIns="81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6" name="Google Shape;596;p52"/>
          <p:cNvGrpSpPr/>
          <p:nvPr/>
        </p:nvGrpSpPr>
        <p:grpSpPr>
          <a:xfrm>
            <a:off x="5245560" y="3014640"/>
            <a:ext cx="465120" cy="464760"/>
            <a:chOff x="5245560" y="3014640"/>
            <a:chExt cx="465120" cy="464760"/>
          </a:xfrm>
        </p:grpSpPr>
        <p:grpSp>
          <p:nvGrpSpPr>
            <p:cNvPr id="147" name="Google Shape;597;p52"/>
            <p:cNvGrpSpPr/>
            <p:nvPr/>
          </p:nvGrpSpPr>
          <p:grpSpPr>
            <a:xfrm>
              <a:off x="5341320" y="3091320"/>
              <a:ext cx="273960" cy="311760"/>
              <a:chOff x="5341320" y="3091320"/>
              <a:chExt cx="273960" cy="311760"/>
            </a:xfrm>
          </p:grpSpPr>
          <p:sp>
            <p:nvSpPr>
              <p:cNvPr id="148" name="Google Shape;598;p52"/>
              <p:cNvSpPr/>
              <p:nvPr/>
            </p:nvSpPr>
            <p:spPr>
              <a:xfrm>
                <a:off x="5341320" y="3237840"/>
                <a:ext cx="158760" cy="165240"/>
              </a:xfrm>
              <a:custGeom>
                <a:avLst/>
                <a:gdLst>
                  <a:gd name="textAreaLeft" fmla="*/ 0 w 158760"/>
                  <a:gd name="textAreaRight" fmla="*/ 159120 w 15876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106179" h="110289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" name="Google Shape;599;p52"/>
              <p:cNvSpPr/>
              <p:nvPr/>
            </p:nvSpPr>
            <p:spPr>
              <a:xfrm>
                <a:off x="5389920" y="3091320"/>
                <a:ext cx="225360" cy="263160"/>
              </a:xfrm>
              <a:custGeom>
                <a:avLst/>
                <a:gdLst>
                  <a:gd name="textAreaLeft" fmla="*/ 0 w 225360"/>
                  <a:gd name="textAreaRight" fmla="*/ 225720 w 225360"/>
                  <a:gd name="textAreaTop" fmla="*/ 0 h 263160"/>
                  <a:gd name="textAreaBottom" fmla="*/ 263520 h 263160"/>
                </a:gdLst>
                <a:ahLst/>
                <a:cxnLst/>
                <a:rect l="textAreaLeft" t="textAreaTop" r="textAreaRight" b="textAreaBottom"/>
                <a:pathLst>
                  <a:path w="150412" h="175609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50" name="Google Shape;600;p52"/>
            <p:cNvSpPr/>
            <p:nvPr/>
          </p:nvSpPr>
          <p:spPr>
            <a:xfrm>
              <a:off x="5245560" y="3014640"/>
              <a:ext cx="465120" cy="464760"/>
            </a:xfrm>
            <a:custGeom>
              <a:avLst/>
              <a:gdLst>
                <a:gd name="textAreaLeft" fmla="*/ 0 w 465120"/>
                <a:gd name="textAreaRight" fmla="*/ 465480 w 465120"/>
                <a:gd name="textAreaTop" fmla="*/ 0 h 464760"/>
                <a:gd name="textAreaBottom" fmla="*/ 465120 h 46476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1" name="PlaceHolder 3"/>
          <p:cNvSpPr>
            <a:spLocks noGrp="1"/>
          </p:cNvSpPr>
          <p:nvPr>
            <p:ph type="subTitle"/>
          </p:nvPr>
        </p:nvSpPr>
        <p:spPr>
          <a:xfrm>
            <a:off x="2857680" y="4219560"/>
            <a:ext cx="3438000" cy="37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1599"/>
              </a:spcAft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Please keep this slide for attribution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astel Minimalist Elegant Lines Portfolio by Slidesgo">
  <a:themeElements>
    <a:clrScheme name="Simple Light">
      <a:dk1>
        <a:srgbClr val="191919"/>
      </a:dk1>
      <a:lt1>
        <a:srgbClr val="e7e4f1"/>
      </a:lt1>
      <a:dk2>
        <a:srgbClr val="f5f3ed"/>
      </a:dk2>
      <a:lt2>
        <a:srgbClr val="ffe0a7"/>
      </a:lt2>
      <a:accent1>
        <a:srgbClr val="f9cfd0"/>
      </a:accent1>
      <a:accent2>
        <a:srgbClr val="d9cfde"/>
      </a:accent2>
      <a:accent3>
        <a:srgbClr val="d2dae9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2026-03-23T09:58:55Z</dcterms:created>
  <dc:creator>Unknown Creator</dc:creator>
  <dc:description/>
  <dc:language>en-US</dc:language>
  <cp:lastModifiedBy>Unknown Creator</cp:lastModifiedBy>
  <dcterms:modified xsi:type="dcterms:W3CDTF">2026-03-23T09:58:55Z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